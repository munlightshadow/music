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965960"/>
            <a:ext cx="676656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93592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 / 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Кто с вами на курсе: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 Задание 1 = 2 балла, 2 = 3, 3–9 по 1. Задание 10 = 3, 11 = 2, 12–18 по 1.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17682"/>
            <a:ext cx="10908792" cy="83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заполнять бланк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2025, инструкция к письменной части.</a:t>
            </a:r>
          </a:p>
        </p:txBody>
      </p:sp>
      <p:pic>
        <p:nvPicPr>
          <p:cNvPr id="10" name="Picture 9" descr="demo-blank-i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урок с преподавателем в Zoom → тьютору письмо 37, эссе 38 и задание 4 → итоговый тест.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Расписание и дедлайны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Он английский не проверяет.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Кто с вами работает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Роль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Чего не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Преподаватель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Урок Zoom: живая речь на теме модуля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ставит баллы за 37 / 38 / 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Тьютор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Проверяет письмо, эссе и голосовое как эксперт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ведёт Zoom и не гоняет дедлайны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Расписание, дедлайны, связь с семьёй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проверяет английский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 кому с каким вопросом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как сказать на уроке, как звучит фраза, что было в Zoom.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баллы и комментарий к этой работе: что исправить сейчас.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когда Zoom, когда дедлайн, не открывается модуль, вопрос семьи про прогресс.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Сегодня вас ведёт эксперт вводного модуля. Дальше на курсе — эти три роли.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тьютору «во сколько занятие?» и куратору «поставьте 14 за эссе» — не туда.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Кратко: формат и сами задания из демоверсии 2025.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1–9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 Максимум 2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 Максимум 3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Таблица здесь — только поле для ответов, не данные для анализа.</a:t>
            </a:r>
          </a:p>
        </p:txBody>
      </p:sp>
      <p:pic>
        <p:nvPicPr>
          <p:cNvPr id="10" name="Picture 9" descr="demo-listening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3–9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интервью, выбор 1 / 2 / 3.</a:t>
            </a:r>
          </a:p>
        </p:txBody>
      </p:sp>
      <p:pic>
        <p:nvPicPr>
          <p:cNvPr id="10" name="Picture 9" descr="demo-listening-3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10–18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 Максимум 3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 Максимум 2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связному тексту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Тексты — сплошные: статьи, заметки.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 и диаграмм в чтении нет.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Таблица/круговая диаграмма — это задание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(письмо), не раздел «Чтение».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Объём текстов на экзамене — до 900 слов.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короткие тексты + заголовки. «Таблица» внизу — только сетка ответов.</a:t>
            </a:r>
          </a:p>
        </p:txBody>
      </p:sp>
      <p:pic>
        <p:nvPicPr>
          <p:cNvPr id="10" name="Picture 9" descr="demo-reading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475" y="1559560"/>
            <a:ext cx="169600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один текст с пропусками A–F.</a:t>
            </a:r>
          </a:p>
        </p:txBody>
      </p:sp>
      <p:pic>
        <p:nvPicPr>
          <p:cNvPr id="10" name="Picture 9" descr="demo-reading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12–18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длинный сплошной текст, выбор ответа. Несплошных текстов нет.</a:t>
            </a:r>
          </a:p>
        </p:txBody>
      </p:sp>
      <p:pic>
        <p:nvPicPr>
          <p:cNvPr id="10" name="Picture 9" descr="demo-reading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· задания 19–24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Может быть один текст или два коротких (помечено «ИЛИ»).</a:t>
            </a:r>
          </a:p>
        </p:txBody>
      </p:sp>
      <p:pic>
        <p:nvPicPr>
          <p:cNvPr id="10" name="Picture 9" descr="demo-grammar-19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Словообразование · задания 25–29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образовать родственное слово от опорного.</a:t>
            </a:r>
          </a:p>
        </p:txBody>
      </p:sp>
      <p:pic>
        <p:nvPicPr>
          <p:cNvPr id="10" name="Picture 9" descr="demo-wordformation-25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37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 Тема — русская литература: три вопроса другу и новость про подарок.</a:t>
            </a:r>
          </a:p>
        </p:txBody>
      </p:sp>
      <p:pic>
        <p:nvPicPr>
          <p:cNvPr id="10" name="Picture 9" descr="demo-writing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3468188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3468188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3303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28308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0565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12822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8311, скан из мр Пч. Olive / St. Petersburg · 105 слов · К1 2 · К2 2 · К3 2.</a:t>
            </a:r>
          </a:p>
        </p:txBody>
      </p:sp>
      <p:pic>
        <p:nvPicPr>
          <p:cNvPr id="10" name="Picture 9" descr="work-8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8095" y="1559560"/>
            <a:ext cx="627276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8447, скан из мр Пч. Hey Mike · 0 из 6. Обращение Hey и вопросы не по новости.</a:t>
            </a:r>
          </a:p>
        </p:txBody>
      </p:sp>
      <p:pic>
        <p:nvPicPr>
          <p:cNvPr id="10" name="Picture 9" descr="work-84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781" y="1559560"/>
            <a:ext cx="435538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38.1 · таблица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Выбираете только один вариант. Таблица или круговая диаграмма — здесь, в 38, не в чтении. Почему жители Zetland не ходят в театр.</a:t>
            </a:r>
          </a:p>
        </p:txBody>
      </p:sp>
      <p:pic>
        <p:nvPicPr>
          <p:cNvPr id="10" name="Picture 9" descr="demo-writing-3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745" y="1559560"/>
            <a:ext cx="4161461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38.2 · круговая диаграмма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58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Тот же КИМ: альтернатива — pie chart про изучение иностранных языков.</a:t>
            </a:r>
          </a:p>
        </p:txBody>
      </p:sp>
      <p:pic>
        <p:nvPicPr>
          <p:cNvPr id="10" name="Picture 9" descr="demo-writing-3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673" y="1640840"/>
            <a:ext cx="5201605" cy="4714239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42 / 69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479552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479552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4630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564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pic>
        <p:nvPicPr>
          <p:cNvPr id="13" name="Picture 12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43 / 69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1025, скан из мр Пч. Музыкальные школы · 224 слова · РКЗ 3 · орг. 2 · лекс. 2 · гр. 3 · орф. 2.</a:t>
            </a:r>
          </a:p>
        </p:txBody>
      </p:sp>
      <p:pic>
        <p:nvPicPr>
          <p:cNvPr id="10" name="Picture 9" descr="work-1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5" y="1559560"/>
            <a:ext cx="313638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44 / 69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8781, скан из мр Пч. Новый год · 218 слов · 0 из 14. «Сам организовал таблицу ниже», цифры словами, вывод не по плану.</a:t>
            </a:r>
          </a:p>
        </p:txBody>
      </p:sp>
      <p:pic>
        <p:nvPicPr>
          <p:cNvPr id="10" name="Picture 9" descr="work-87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066" y="1559560"/>
            <a:ext cx="326281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1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Подготовка 1,5 мин, читать 1,5 мин. Ставят 1 или 0. Текст про water hole в саванне.</a:t>
            </a:r>
          </a:p>
        </p:txBody>
      </p:sp>
      <p:pic>
        <p:nvPicPr>
          <p:cNvPr id="10" name="Picture 9" descr="demo-speaking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51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52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2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ФИПИ, демоверсия: реклама хоккейного клуба и 4 опорных пункта.</a:t>
            </a:r>
          </a:p>
        </p:txBody>
      </p:sp>
      <p:pic>
        <p:nvPicPr>
          <p:cNvPr id="10" name="Picture 9" descr="demo-speaking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53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54 / 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3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Вопросы на экране заранее не видите — слушайте. 40 секунд, 2–3 фразы, по 1 баллу. Интервью про одежду; на экзамене звучит в наушниках.</a:t>
            </a:r>
          </a:p>
        </p:txBody>
      </p:sp>
      <p:pic>
        <p:nvPicPr>
          <p:cNvPr id="10" name="Picture 9" descr="demo-speaking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55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56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57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58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4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Фото другу сейчас не отправляете — только голос. Проект Volunteering, 12–15 фраз, не больше 3 минут.</a:t>
            </a:r>
          </a:p>
        </p:txBody>
      </p:sp>
      <p:pic>
        <p:nvPicPr>
          <p:cNvPr id="10" name="Picture 9" descr="demo-speaking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59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60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61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62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0487, скан разбора из мр УЧ. Summer holidays · РКЗ 4 · орг. 3 · язык 2. Устная работа — аудио; здесь страница экспертного разбора со словами ответа.</a:t>
            </a:r>
          </a:p>
        </p:txBody>
      </p:sp>
      <p:pic>
        <p:nvPicPr>
          <p:cNvPr id="10" name="Picture 9" descr="work-0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999" y="1559560"/>
            <a:ext cx="3392953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63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9213, скан из мр УЧ. Family pastime. Нет различия про проект, нет плюсов/минусов двух типов, мнение не разобрать → содержание &lt; 50% → всё задание 0.</a:t>
            </a:r>
          </a:p>
        </p:txBody>
      </p:sp>
      <p:pic>
        <p:nvPicPr>
          <p:cNvPr id="10" name="Picture 9" descr="work-92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237" y="1559560"/>
            <a:ext cx="2184477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64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65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pic>
        <p:nvPicPr>
          <p:cNvPr id="12" name="Picture 11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66 / 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Три продукта каждый модуль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67 / 69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с преподавателем в Zoom и в фонетике.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Дедлайн первой сдачи скажет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Три работы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68 / 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965960"/>
            <a:ext cx="6766560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93592"/>
            <a:ext cx="6766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69 / 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