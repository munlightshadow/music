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208" y="411480"/>
            <a:ext cx="2109277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148840"/>
            <a:ext cx="105156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ВВОДНЫЙ МОДУЛЬ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9966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Курс подготовки к ЕГЭ по английскому языку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9966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Как устроен экзамен · все задания · баллы · бланки · шаблоны · примеры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 / 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Сегодня по порядку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Письменная часть: задания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1–36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кратко, затем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37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подробно.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Устная часть: задания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1, 2, 3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кратко, затем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4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подробно.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Сначала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само задание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потом разбор работы.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Кто с вами на курсе: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преподаватель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Показываем бланки: куда писать на экзамене.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Удачные и неудачные ответы на 37, 38 и говорение.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 / 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первичных баллов за весь ЕГЭ: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письменная часть 62 + устная 20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 / 69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Письменная часть · 190 минут · 62 балла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582"/>
                <a:gridCol w="4145340"/>
                <a:gridCol w="1745406"/>
                <a:gridCol w="3054464"/>
              </a:tblGrid>
              <a:tr h="39624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Задания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Раздел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Баллы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Куда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1–9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Аудирование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10–18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Чтение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1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19–36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Грамматика и лексика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37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Личное письмо другу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624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Эссе по таблице или диаграмме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бланк № 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Рекомендуемое время: аудирование 30 мин (идёт с записью), чтение 30, грамматика 40, письмо 90. Задание 1 = 2 балла, 2 = 3, 3–9 по 1. Задание 10 = 3, 11 = 2, 12–18 по 1.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 / 69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Устная часть · ~17 минут · 20 баллов · отдельный день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960120"/>
          <a:ext cx="1090879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582"/>
                <a:gridCol w="4145340"/>
                <a:gridCol w="1745406"/>
                <a:gridCol w="3054464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Задание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делать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Баллы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Черновик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Прочитать текст вслух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Задать 4 вопроса по рекламе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Ответить на 5 вопросов интервью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Голосовое другу по двум фото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17682"/>
            <a:ext cx="10908792" cy="83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Бумажного бланка ответов нет. Всё — в микрофон. Идёт аудио- и видеозапись.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 / 69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Бланк ответов №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Сюда переносят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только задания 1–36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Одна клетка — один символ. Буквы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заглавные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печатные.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Без пробелов, точек, запятых, кавычек.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Исправления — в поле замены.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Письмо 37 и эссе 38 сюда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писать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Сначала работаете в КИМ, на перенос оставьте время.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 / 69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Как заполнять бланк №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2025, инструкция к письменной части.</a:t>
            </a:r>
          </a:p>
        </p:txBody>
      </p:sp>
      <p:pic>
        <p:nvPicPr>
          <p:cNvPr id="10" name="Picture 9" descr="demo-blank-instr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7 / 69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Бланк ответов №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Сюда пишете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только 37 и 38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Укажите номер задания.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Для 38 укажите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38.1 или 38.2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выбран только один вариант.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Числительные в 38 пишите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цифрами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Проверяют только то, что в бланке. Черновик эксперт не читает.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Адрес и тему письма (From / To / Subject)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копировать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Пишите через строчку — так проще править. Почерк должен читаться однозначно.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38 не влезло — дополнительный бланк № 2, не бланк № 1.</a:t>
            </a:r>
          </a:p>
        </p:txBody>
      </p:sp>
      <p:pic>
        <p:nvPicPr>
          <p:cNvPr id="16" name="Picture 1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8 / 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Как устроен этот курс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После диагностики — этот вводный модуль. Дальше рабочие модули.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Receptive: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лексика, грамматика, чтение, аудирование, фонетика, тексты про Россию и English World — автопроверка.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Productive: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урок с преподавателем в Zoom → тьютору письмо 37, эссе 38 и задание 4 → итоговый тест.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Расписание и дедлайны —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Он английский не проверяет.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37 / 38 / 4 каждого модуля есть аспект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 Россию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и организация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полностью с первой сдачи.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Язык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только по уже пройденным темам.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9 / 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Кто с вами работает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406"/>
                <a:gridCol w="5018044"/>
                <a:gridCol w="4145342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Роль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делает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Чего не делает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Преподаватель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Урок Zoom: живая речь на теме модуля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 ставит баллы за 37 / 38 / 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Тьютор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Проверяет письмо, эссе и голосовое как эксперт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 ведёт Zoom и не гоняет дедлайны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Куратор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Расписание, дедлайны, связь с семьёй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 проверяет английский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10 / 69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К кому с каким вопросом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Преподаватель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как сказать на уроке, как звучит фраза, что было в Zoom.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баллы и комментарий к этой работе: что исправить сейчас.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когда Zoom, когда дедлайн, не открывается модуль, вопрос семьи про прогресс.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Сегодня вас ведёт эксперт вводного модуля. Дальше на курсе — эти три роли.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Письмо тьютору «во сколько занятие?» и куратору «поставьте 14 за эссе» — не туда.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11 / 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Письменная часть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задания 1–36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Кратко: формат и сами задания из демоверсии 2025.</a:t>
            </a:r>
          </a:p>
        </p:txBody>
      </p:sp>
      <p:pic>
        <p:nvPicPr>
          <p:cNvPr id="12" name="Picture 11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12 / 69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Аудирование · задания 1–9 · 12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соответствие: кто что говорит (основное содержание). Максимум 2 балла.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верно / неверно / в тексте не сказано. Максимум 3 балла.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3–9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выбор ответа по интервью (полное понимание). По 1 баллу.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Запись идёт один раз по инструкции КИМ. Ответы — в бланк №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стратегии аудирования — в рецептивной фазе каждого модуля.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13 / 69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Аудирование · задания 1–2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2025. Таблица здесь — только поле для ответов, не данные для анализа.</a:t>
            </a:r>
          </a:p>
        </p:txBody>
      </p:sp>
      <p:pic>
        <p:nvPicPr>
          <p:cNvPr id="10" name="Picture 9" descr="demo-listening-1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14 / 69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Аудирование · задания 3–9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интервью, выбор 1 / 2 / 3.</a:t>
            </a:r>
          </a:p>
        </p:txBody>
      </p:sp>
      <p:pic>
        <p:nvPicPr>
          <p:cNvPr id="10" name="Picture 9" descr="demo-listening-3-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15 /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задания 10–18 · 12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10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заголовки к абзацам (основное содержание). Максимум 3 балла.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11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вставить пропущенные фрагменты (связи в тексте). Максимум 2 балла.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12–18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выбор ответа по связному тексту (полное понимание). По 1 баллу.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Тексты — сплошные: статьи, заметки.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Таблиц и диаграмм в чтении нет.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Таблица/круговая диаграмма — это задание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(письмо), не раздел «Чтение».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Объём текстов на экзамене — до 900 слов.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16 / 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задание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короткие тексты + заголовки. «Таблица» внизу — только сетка ответов.</a:t>
            </a:r>
          </a:p>
        </p:txBody>
      </p:sp>
      <p:pic>
        <p:nvPicPr>
          <p:cNvPr id="10" name="Picture 9" descr="demo-reading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6475" y="1559560"/>
            <a:ext cx="169600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17 / 69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задание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один текст с пропусками A–F.</a:t>
            </a:r>
          </a:p>
        </p:txBody>
      </p:sp>
      <p:pic>
        <p:nvPicPr>
          <p:cNvPr id="10" name="Picture 9" descr="demo-reading-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18 / 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Чтение · задания 12–18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длинный сплошной текст, выбор ответа. Несплошных текстов нет.</a:t>
            </a:r>
          </a:p>
        </p:txBody>
      </p:sp>
      <p:pic>
        <p:nvPicPr>
          <p:cNvPr id="10" name="Picture 9" descr="demo-reading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19 / 69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Грамматика и лексика · задания 19–36 · 18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19–24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грамматика: поставить слово в нужную форму (6 баллов).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7335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25–29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словообразование (5 баллов).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8658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30–36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выбор лексики в связном тексте (7 баллов).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9981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бланке № 1: слова заглавными буквами, без лишних символов.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1304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грамматика копится по модулям. Тьютор в 37/38/4 комментирует только уже пройденное.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20 / 69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Грамматика · задания 19–24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2025. Может быть один текст или два коротких (помечено «ИЛИ»).</a:t>
            </a:r>
          </a:p>
        </p:txBody>
      </p:sp>
      <p:pic>
        <p:nvPicPr>
          <p:cNvPr id="10" name="Picture 9" descr="demo-grammar-19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21 / 69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Словообразование · задания 25–29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Демоверсия КИМ ЕГЭ 2025: образовать родственное слово от опорного.</a:t>
            </a:r>
          </a:p>
        </p:txBody>
      </p:sp>
      <p:pic>
        <p:nvPicPr>
          <p:cNvPr id="10" name="Picture 9" descr="demo-wordformation-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22 / 69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Задание 37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электронное письмо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Подробно. Сначала задание — потом работы.</a:t>
            </a:r>
          </a:p>
        </p:txBody>
      </p:sp>
      <p:pic>
        <p:nvPicPr>
          <p:cNvPr id="12" name="Picture 11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23 / 69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6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за письмо другу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2 · организация 2 · язык 2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24 / 69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37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Так выглядит КИМ. Дальше разберём, что с ним делать. Тема — русская литература: три вопроса другу и новость про подарок.</a:t>
            </a:r>
          </a:p>
        </p:txBody>
      </p:sp>
      <p:pic>
        <p:nvPicPr>
          <p:cNvPr id="10" name="Picture 9" descr="demo-writing-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25 / 69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Что сделать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Ответить на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все три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вопроса друга — полно и точно.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Задать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своих вопроса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именно про его новость (здесь — поездка на море).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Соблюсти правила письма: вежливость + оформление.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Писать в бланк № 2. From / To / Subject не копировать.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по содержанию 0 — язык и организацию уже не ставят. Всё письмо 0.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26 / 69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Объём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задании написано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100–140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слов.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схеме эксперта допуск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90–154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Меньше 90 → письмо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проверяют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0 за всё.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Больше 154 → проверяют только первые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140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слов. Могут выпасть вопросы, Write back soon и подпись.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Считают всё: артикли, предлоги, обращение, подпись.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don't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= одно слово.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27 / 69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Шесть аспектов содержания (РКЗ)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230"/>
                <a:gridCol w="5236220"/>
                <a:gridCol w="4145342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Аспект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должно быть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Частая ошибка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1–3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Полный ответ на каждый вопрос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да/нет; не на тот вопрос; транслит про Россию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Три вопроса про новость друга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просьба Wanna tell me; вопрос уже отвечен в стимуле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Спасибо и/или радость + надежда на ответ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своя формула I’ll be waiting for your emails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Dear/Hi + имя; завершение; только имя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Hey; адрес и дата; фамилия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К1: 2 — все аспекты или 1 неточность; 1 — 2–3 неточности; 0 — 3+ пропуска.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28 / 69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Шаблон оформления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68680"/>
            <a:ext cx="10908792" cy="3468188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868680"/>
            <a:ext cx="64008" cy="3468188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960120"/>
            <a:ext cx="10652760" cy="3303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Dear [Name],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Thank you for your letter. It was great to hear from you.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[Абзац: ответы на три вопроса друга.]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[Абзац: три вопроса другу по его новости.]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Write back soon.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Best wishes,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[только ваше имя]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28308"/>
            <a:ext cx="10908792" cy="64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Dear Kevin,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3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Hi Kevin,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да. </a:t>
            </a:r>
            <a:r>
              <a:rPr sz="13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Hey Kevin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нет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070565"/>
            <a:ext cx="10908792" cy="64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Обращение, завершающая фраза и подпись — </a:t>
            </a:r>
            <a:r>
              <a:rPr sz="13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отдельные строки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12822"/>
            <a:ext cx="10908792" cy="642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Абзацы должны быть видны. Один простой абзац из одной короткой фразы — слабо.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29 / 69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Удачный ответ · 6 из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8311, скан из мр Пч. Olive / St. Petersburg · 105 слов · К1 2 · К2 2 · К3 2.</a:t>
            </a:r>
          </a:p>
        </p:txBody>
      </p:sp>
      <p:pic>
        <p:nvPicPr>
          <p:cNvPr id="10" name="Picture 9" descr="work-83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095" y="1559560"/>
            <a:ext cx="627276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30 / 69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это 6, а не обрубок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Есть Dear Olive, Write back soon, Best wishes и только имя.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ответа по существу, в том числе про Россию — так, что англичанин поймёт.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вопроса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 поездку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не про погоду.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Абзацы и отдельные строки на месте.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с первой сдачи требуем содержание и организацию как здесь. Язык комментируем по пройденным темам.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31 / 69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Сначала задание · потом ноль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8447, скан из мр Пч. Hey Mike · 0 из 6. Обращение Hey и вопросы не по новости.</a:t>
            </a:r>
          </a:p>
        </p:txBody>
      </p:sp>
      <p:pic>
        <p:nvPicPr>
          <p:cNvPr id="10" name="Picture 9" descr="work-84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781" y="1559560"/>
            <a:ext cx="4355388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32 / 69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сразу ноль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Hey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не принимают как обращение задания 37.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to hear you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вместо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to hear from you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формула вежливости не засчитана.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I’ll be waiting for your emails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такого клише нет.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«Вопросы»: просьба; вопрос, на который друг уже ответил (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 nice summer camp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); вопрос не про этот лагерь.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Дальше язык уже не проверяют.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33 / 69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Ловушка про Россию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друг спрашивает про русские книги, фильмы, места — пишите так, чтобы он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узнал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название.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Работа 4798: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Prestuplenie, nakasanie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mertvie dushi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сбой коммуникации, аспект не принят.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Нужно: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Crime and Punishment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Dead Souls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(можно добавить русское имя рядом).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Та же работа ещё и длиннее 154 слов: из проверки выпали третий вопрос и подпись. Итого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в каждом письме будет вопрос про Россию — это правило с первой сдачи.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34 / 69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Чек-лист 37 перед бланком №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90–154 слова, лучше 100–140.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Dear / Hi + имя, не Hey.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Спасибо за письмо.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ответа по существу.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Три вопроса про новость друга, не просьбы.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Write back soon (или одно завершение) + только имя на отдельных строках.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Нет адреса и даты.</a:t>
            </a:r>
          </a:p>
        </p:txBody>
      </p:sp>
      <p:pic>
        <p:nvPicPr>
          <p:cNvPr id="16" name="Picture 1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35 / 69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Задание 38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эссе по таблице / диаграмме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Официальный стиль. Это не CV и не деловое письмо.</a:t>
            </a:r>
          </a:p>
        </p:txBody>
      </p:sp>
      <p:pic>
        <p:nvPicPr>
          <p:cNvPr id="12" name="Picture 11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36 / 69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14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за эссе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3 · организация 3 · лексика 3 · грамматика 3 · орфография 2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37 / 69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Выбрать только одно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КИМ два варианта: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38.1 таблица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или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38.2 круговая диаграмма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бланке № 2 напишите номер: 38.1 или 38.2.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Числительные —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цифрами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(37%, не thirty-seven percent).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Будут только таблицы и круговые диаграммы.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Высокий язык без анализа данных высокие баллы не даст. Содержание важнее.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по РКЗ 0 — вся работа 0.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38 / 69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38.1 · таблица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Выбираете только один вариант. Таблица или круговая диаграмма — здесь, в 38, не в чтении. Почему жители Zetland не ходят в театр.</a:t>
            </a:r>
          </a:p>
        </p:txBody>
      </p:sp>
      <p:pic>
        <p:nvPicPr>
          <p:cNvPr id="10" name="Picture 9" descr="demo-writing-3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3745" y="1559560"/>
            <a:ext cx="4161461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39 / 69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38.2 · круговая диаграмма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08792" cy="58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Тот же КИМ: альтернатива — pie chart про изучение иностранных языков.</a:t>
            </a:r>
          </a:p>
        </p:txBody>
      </p:sp>
      <p:pic>
        <p:nvPicPr>
          <p:cNvPr id="10" name="Picture 9" descr="demo-writing-38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673" y="1640840"/>
            <a:ext cx="5201605" cy="4714239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40 / 69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Пять абзацев = шесть аспектов РКЗ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2761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5406"/>
                <a:gridCol w="5018044"/>
                <a:gridCol w="4145342"/>
              </a:tblGrid>
              <a:tr h="39449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Абзац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написать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Нельзя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Проект + тема + survey / opinion poll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«я составил таблицу ниже»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2–3 факта с цифрами и вопросом опроса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факты без цифр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1–2 существенных сравнения + комментарий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29% vs 23% как much more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Проблема из формулировки плана + решение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проблема не про эту сферу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49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I think / I believe именно про последний пункт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мнение не на тот вопрос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450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стиль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Нейтральный официальный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kids, gonna, риторические вопросы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41 / 69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Объём 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задании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200–250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Допуск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180–275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Меньше 180 → 0 за всё.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Больше 275 → проверяют только первые </a:t>
            </a:r>
            <a:r>
              <a:rPr sz="16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250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слов. Заключение может выпасть — и РКЗ падает.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Введение и заключение примерно равны. Основа не короче, чем они вместе.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Больше 30% списанного текста → 0.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42 / 69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Шаблон фраз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68680"/>
            <a:ext cx="10908792" cy="479552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868680"/>
            <a:ext cx="64008" cy="4795520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960120"/>
            <a:ext cx="10652760" cy="4630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While doing a project on …, I have found some data on the subject –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the results of a survey.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According to the data, …% of respondents…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As can be seen from the table, the most / least popular option is…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Compared with … (X%), … is higher / lower (Y%). This may be because…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One problem that can arise with … is…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 possible way to solve it is…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In conclusion, I believe that … because 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5564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пишите </a:t>
            </a:r>
            <a:r>
              <a:rPr sz="12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 organised it in the table below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— таблицы «ниже» в бланке нет, и вы её не составляли.</a:t>
            </a:r>
          </a:p>
        </p:txBody>
      </p:sp>
      <p:pic>
        <p:nvPicPr>
          <p:cNvPr id="13" name="Picture 12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43 / 69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Удачный ответ · 12 из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1025, скан из мр Пч. Музыкальные школы · 224 слова · РКЗ 3 · орг. 2 · лекс. 2 · гр. 3 · орф. 2.</a:t>
            </a:r>
          </a:p>
        </p:txBody>
      </p:sp>
      <p:pic>
        <p:nvPicPr>
          <p:cNvPr id="10" name="Picture 9" descr="work-1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5" y="1559560"/>
            <a:ext cx="313638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44 / 69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12, а не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Есть проект, тема и opinion polls. Три факта с цифрами. Проблема из плана. Явное I believe.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Сняли организацию и лексику: сравнили 19% и 15% (разница 4 пункта — слабое сравнение), комментарий про «другие хобби» из таблицы не следует.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vote for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learning techniques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вместо teaching methods; </a:t>
            </a:r>
            <a:r>
              <a:rPr sz="16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can not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раздельно.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лучше сразу сравнивать несхожие цифры, например 29% и 14%.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Содержание и организацию с первой сдачи требуем как здесь. Язык — по пройденным темам.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45 / 69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Сначала задание · потом ноль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Работа 8781, скан из мр Пч. Новый год · 218 слов · 0 из 14. «Сам организовал таблицу ниже», цифры словами, вывод не по плану.</a:t>
            </a:r>
          </a:p>
        </p:txBody>
      </p:sp>
      <p:pic>
        <p:nvPicPr>
          <p:cNvPr id="10" name="Picture 9" descr="work-87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066" y="1559560"/>
            <a:ext cx="3262818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46 / 69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Почему ноль, хотя абзацев пять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Нет survey: «сам организовал таблицу ниже».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Факты без нормальных цифр (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only third percent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20% названы slightly lower, чем 34% — это не сравнение.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7% — не «только 7% покупают подарки», а «7% считают покупку подарков самым важным».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Заключение не про подготовку заранее и из‑за ошибок его не понять.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Ещё ловушка объёма: работа 5806 на 279 слов потеряла вывод — РКЗ стало 1. Лучше 220 слов с целым заключением.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47 / 69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Чек-лист 38 перед бланком №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180–275 слов, лучше 200–250.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Номер 38.1 или 38.2.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Во вступлении: проект + тема + survey / opinion poll.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2–3 факта с цифрами.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Сравнение несхожих цифр + комментарий.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Проблема из плана + решение.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834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 think / I believe именно про последний пункт плана.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69280"/>
            <a:ext cx="1090879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Пять абзацев, нейтральный стиль.</a:t>
            </a:r>
          </a:p>
        </p:txBody>
      </p:sp>
      <p:pic>
        <p:nvPicPr>
          <p:cNvPr id="17" name="Picture 16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48 / 69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Устная часть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задания 1–3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Кратко. Черновиков нет — ничего записывать нельзя.</a:t>
            </a:r>
          </a:p>
        </p:txBody>
      </p:sp>
      <p:pic>
        <p:nvPicPr>
          <p:cNvPr id="12" name="Picture 11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49 / 69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20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вся устная часть: 1 + 4 + 5 + 10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ответ только голосом, ~17 минут вместе с подготовкой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50 / 69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1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Подготовка 1,5 мин, читать 1,5 мин. Ставят 1 или 0. Текст про water hole в саванне.</a:t>
            </a:r>
          </a:p>
        </p:txBody>
      </p:sp>
      <p:pic>
        <p:nvPicPr>
          <p:cNvPr id="10" name="Picture 9" descr="demo-speaking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51 / 69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1 · на что смотрят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Интонация, звуки, словесное и фразовое ударение.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Уложиться в 1,5 минуты и дочитать текст.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читать того, чего нет, и не пропускать строки.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Риск нуля: речь почти не прочитать; 3+ смысловые замены звуков; пропуск 3+ слов; пауза, ломающая смысл.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фонетика идёт по шагам 1–20. Сборка чтения вслух — к модулям 18–20.</a:t>
            </a:r>
          </a:p>
        </p:txBody>
      </p:sp>
      <p:pic>
        <p:nvPicPr>
          <p:cNvPr id="14" name="Picture 13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52 / 69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2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ФИПИ, демоверсия: реклама хоккейного клуба и 4 опорных пункта.</a:t>
            </a:r>
          </a:p>
        </p:txBody>
      </p:sp>
      <p:pic>
        <p:nvPicPr>
          <p:cNvPr id="10" name="Picture 9" descr="demo-speaking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53 / 69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2 · как спрашивать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 баллу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за вопрос. Каждый вопрос оценивают отдельно.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Вступление и прощание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нужны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Строго по подсказке. If / whether → только общий вопрос.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Первый вопрос должен прояснить, куда звоните: не How much is it? без названия.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Последний вариант, даже если исправились на худший, и есть тот, что засчитают.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Норма: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How long does the tour last?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How much does it cost for one person?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Are there any student discounts?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· </a:t>
            </a:r>
            <a:r>
              <a:rPr sz="1400" b="0" i="1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What special equipment is needed?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54 / 69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3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Вопросы на экране заранее не видите — слушайте. 40 секунд, 2–3 фразы, по 1 баллу. Интервью про одежду; на экзамене звучит в наушниках.</a:t>
            </a:r>
          </a:p>
        </p:txBody>
      </p:sp>
      <p:pic>
        <p:nvPicPr>
          <p:cNvPr id="10" name="Picture 9" descr="demo-speaking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80" y="1559560"/>
            <a:ext cx="3393390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55 / 69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Задание 3 · как отвечать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Каждый вопрос звучит один раз. Можно секунду подумать — нельзя молчать до нуля.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Полный ответ: все детали вопроса (what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and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why).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обязательно говорить все 40 секунд.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Ошибки языка не снимают балл, если друг по интервью вас понял.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 курсе живая практика — Zoom. Тьютору 1–3 каждую неделю не сдаём.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одном из вопросов интервью тоже бывает аспект про Россию / ваш регион.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56 / 69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Задание 4</a:t>
            </a:r>
          </a:p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голосовое другу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Основной устный продукт курса. С первой сдачи тьютору.</a:t>
            </a:r>
          </a:p>
        </p:txBody>
      </p:sp>
      <p:pic>
        <p:nvPicPr>
          <p:cNvPr id="12" name="Picture 11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57 / 69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6800" b="1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10 баллов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78408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максимум за монолог</a:t>
            </a:r>
          </a:p>
          <a:p>
            <a:pPr algn="ctr">
              <a:spcAft>
                <a:spcPts val="400"/>
              </a:spcAft>
            </a:pPr>
            <a:r>
              <a:rPr sz="18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РКЗ 4 · организация 3 · язык 3</a:t>
            </a:r>
          </a:p>
        </p:txBody>
      </p:sp>
      <p:pic>
        <p:nvPicPr>
          <p:cNvPr id="10" name="Picture 9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58 / 69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Говорение · задание 4 · демоверсия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Так выглядит КИМ. Фото другу сейчас не отправляете — только голос. Проект Volunteering, 12–15 фраз, не больше 3 минут.</a:t>
            </a:r>
          </a:p>
        </p:txBody>
      </p:sp>
      <p:pic>
        <p:nvPicPr>
          <p:cNvPr id="10" name="Picture 9" descr="demo-speaking-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744" y="1559560"/>
            <a:ext cx="3389462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59 / 69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Что это за ситуация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Друг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не видит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фото. Не говорите «я уже отправил картинки».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Обращайтесь к другу по имени,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Каждый пункт плана — примерно 2–3 фразы, всё связано с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темой проекта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Подготовка 2,5 минуты. Говорить не больше 3 минут. Запись оборвётся сама.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Можно меньше 3 минут. Можно исправляться.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Если по содержанию 0 — язык и организацию не ставят.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60 / 69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Четыре аспекта и объём фраз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230"/>
                <a:gridCol w="5236220"/>
                <a:gridCol w="4145342"/>
              </a:tblGrid>
              <a:tr h="39867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Аспект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сказать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Ошибка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Оба фото + различие + почему это этот проект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описал одежду, не назвал тему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Плюсы обоих типов, не одного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плюсы только «своего» фото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7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Минусы обоих типов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минус картинки, а не типа отдыха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398680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Мнение в той форме, что в задании, + почему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I like photo 1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12–15 фраз — цель. ≤7 → 0 за всё. 8–9 → максимум 1 по РКЗ. 10–11 → максимум 2.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61 / 69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Шаблон монолога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868680"/>
            <a:ext cx="10908792" cy="5486400"/>
          </a:xfrm>
          <a:prstGeom prst="rect">
            <a:avLst/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868680"/>
            <a:ext cx="64008" cy="5486400"/>
          </a:xfrm>
          <a:prstGeom prst="rect">
            <a:avLst/>
          </a:prstGeom>
          <a:solidFill>
            <a:srgbClr val="468A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960120"/>
            <a:ext cx="10652760" cy="5321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Hi, Ann! I’ve found two photos for our project “Summer holidays”.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 can’t send them now, so I’m leaving a voice message.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In the first photo I can see … In the second photo … The main difference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is … That’s why these photos illustrate our project: they show two types of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As for the advantages, the main advantage of … is … The main advantage of … is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Talking about the disadvantages, … / On the other hand,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As for me, when I was a child I preferred … because …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 </a:t>
            </a:r>
          </a:p>
          <a:p>
            <a:pPr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That’s all I wanted to say. Let me know what you think. Bye!</a:t>
            </a:r>
          </a:p>
        </p:txBody>
      </p:sp>
      <p:pic>
        <p:nvPicPr>
          <p:cNvPr id="12" name="Picture 11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62 / 69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Удачный ответ · 9 из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Ответ 0487, скан разбора из мр УЧ. Summer holidays · РКЗ 4 · орг. 3 · язык 2. Устная работа — аудио; здесь страница экспертного разбора со словами ответа.</a:t>
            </a:r>
          </a:p>
        </p:txBody>
      </p:sp>
      <p:pic>
        <p:nvPicPr>
          <p:cNvPr id="10" name="Picture 9" descr="work-04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999" y="1559560"/>
            <a:ext cx="3392953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63 / 69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Неудачный ответ · 0 из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599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70787C"/>
                </a:solidFill>
                <a:latin typeface="Calibri"/>
                <a:ea typeface="Calibri"/>
                <a:cs typeface="Calibri"/>
              </a:rPr>
              <a:t>Ответ 9213, скан из мр УЧ. Family pastime. Нет различия про проект, нет плюсов/минусов двух типов, мнение не разобрать → содержание &lt; 50% → всё задание 0.</a:t>
            </a:r>
          </a:p>
        </p:txBody>
      </p:sp>
      <p:pic>
        <p:nvPicPr>
          <p:cNvPr id="10" name="Picture 9" descr="work-92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237" y="1559560"/>
            <a:ext cx="2184477" cy="4795520"/>
          </a:xfrm>
          <a:prstGeom prst="rect">
            <a:avLst/>
          </a:prstGeom>
        </p:spPr>
      </p:pic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64 / 69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Чек-лист 4 перед записью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12–15 фраз, не меньше 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Hi + имя.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Названа тема проекта. Фото другу сейчас не отправляете.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Оба фото + различие про эту тему.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Плюс и минус двух типов.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Мнение в той форме, которая в задании (prefer / preferred as a child).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4807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3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Bye / Let me know what you think.</a:t>
            </a:r>
          </a:p>
        </p:txBody>
      </p:sp>
      <p:pic>
        <p:nvPicPr>
          <p:cNvPr id="16" name="Picture 15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65 / 69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3015" y="201168"/>
            <a:ext cx="384048" cy="3840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19B4F"/>
                </a:solidFill>
                <a:latin typeface="Calibri"/>
                <a:ea typeface="Calibri"/>
                <a:cs typeface="Calibri"/>
              </a:rPr>
              <a:t>ЧАСТЬ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1060704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3D593"/>
                </a:solidFill>
                <a:latin typeface="Calibri"/>
                <a:ea typeface="Calibri"/>
                <a:cs typeface="Calibri"/>
              </a:rPr>
              <a:t>Что сдаёте тьютору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С первого рабочего модуля — как на экзамене.</a:t>
            </a:r>
          </a:p>
        </p:txBody>
      </p:sp>
      <p:pic>
        <p:nvPicPr>
          <p:cNvPr id="12" name="Picture 11" descr="logo-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5D2DF"/>
                </a:solidFill>
                <a:latin typeface="Calibri"/>
                <a:ea typeface="Calibri"/>
                <a:cs typeface="Calibri"/>
              </a:rPr>
              <a:t>66 / 69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Три продукта каждый модуль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868680"/>
          <a:ext cx="109087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58"/>
                <a:gridCol w="1963582"/>
                <a:gridCol w="3490813"/>
                <a:gridCol w="3272639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Задание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Максимум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Что проверяем сразу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214149"/>
                          </a:solidFill>
                          <a:latin typeface="Calibri"/>
                          <a:ea typeface="Calibri"/>
                          <a:cs typeface="Calibri"/>
                        </a:rPr>
                        <a:t>Язык</a:t>
                      </a:r>
                    </a:p>
                  </a:txBody>
                  <a:tcPr>
                    <a:solidFill>
                      <a:srgbClr val="E4F1F4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37 письмо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РКЗ + организация + объём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пройденные темы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38 эссе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РКЗ + организация + объём + стиль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пройденные темы</a:t>
                      </a:r>
                    </a:p>
                  </a:txBody>
                  <a:tcPr>
                    <a:solidFill>
                      <a:srgbClr val="FAFCFC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 монолог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4 аспекта + вход/выход + фразы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494F55"/>
                          </a:solidFill>
                          <a:latin typeface="Calibri"/>
                          <a:ea typeface="Calibri"/>
                          <a:cs typeface="Calibri"/>
                        </a:rPr>
                        <a:t>лексика, грамматика, фонетика — накопительно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C5D0D0"/>
                      </a:solidFill>
                    </a:lnL>
                    <a:lnR w="6350">
                      <a:solidFill>
                        <a:srgbClr val="C5D0D0"/>
                      </a:solidFill>
                    </a:lnR>
                    <a:lnT w="6350">
                      <a:solidFill>
                        <a:srgbClr val="C5D0D0"/>
                      </a:solidFill>
                    </a:lnT>
                    <a:lnB w="6350">
                      <a:solidFill>
                        <a:srgbClr val="C5D0D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503244"/>
            <a:ext cx="10908792" cy="851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 ставит те же баллы, что эксперт. В комментариях: «исправить сейчас» и «отметили, пока не требуем».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67 / 69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146304"/>
            <a:ext cx="1460676" cy="3840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292608"/>
            <a:ext cx="85953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Перед первой сдачей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Ещё раз посмотрите эту презентацию — особенно задание, шаблон и чек-лист.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81912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В каждой работе будет вопрос или аспект про Россию.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95144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Устные 1–3 знаете по формату; тренируете с преподавателем в Zoom и в фонетике.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Задания 1–36 — в рецептивной фазе и в тесте модуля.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21608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Дедлайн первой сдачи скажет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куратор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 Три работы — </a:t>
            </a:r>
            <a:r>
              <a:rPr sz="1400" b="1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тьютору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0879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468A9D"/>
                </a:solidFill>
                <a:latin typeface="Calibri"/>
                <a:ea typeface="Calibri"/>
                <a:cs typeface="Calibri"/>
              </a:rPr>
              <a:t>•  </a:t>
            </a:r>
            <a:r>
              <a:rPr sz="14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Дальше — ваш первый рабочий модуль.</a:t>
            </a:r>
          </a:p>
        </p:txBody>
      </p:sp>
      <p:pic>
        <p:nvPicPr>
          <p:cNvPr id="15" name="Picture 14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68 / 69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1148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214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27432"/>
          </a:xfrm>
          <a:prstGeom prst="rect">
            <a:avLst/>
          </a:prstGeom>
          <a:solidFill>
            <a:srgbClr val="C19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1208" y="411480"/>
            <a:ext cx="2109277" cy="1554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2148840"/>
            <a:ext cx="10515600" cy="105156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214149"/>
                </a:solidFill>
                <a:latin typeface="Calibri"/>
                <a:ea typeface="Calibri"/>
                <a:cs typeface="Calibri"/>
              </a:rPr>
              <a:t>ВСТРЕТИМСЯ В ПЕРВОМ РАБОЧЕМ МОДУЛЕ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9966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Регулярность важнее идеального старта.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03320"/>
            <a:ext cx="996696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494F55"/>
                </a:solidFill>
                <a:latin typeface="Calibri"/>
                <a:ea typeface="Calibri"/>
                <a:cs typeface="Calibri"/>
              </a:rPr>
              <a:t>Ошибки — это материал для следующего шага, не приговор.</a:t>
            </a:r>
          </a:p>
        </p:txBody>
      </p:sp>
      <p:pic>
        <p:nvPicPr>
          <p:cNvPr id="11" name="Picture 10" descr="logo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643737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6473952"/>
            <a:ext cx="841248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Английский Маяк · вводный модуль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0055" y="6473952"/>
            <a:ext cx="105156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A8B2BB"/>
                </a:solidFill>
                <a:latin typeface="Calibri"/>
                <a:ea typeface="Calibri"/>
                <a:cs typeface="Calibri"/>
              </a:rPr>
              <a:t>69 / 69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